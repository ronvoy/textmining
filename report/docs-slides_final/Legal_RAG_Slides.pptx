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52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</a:rPr>
              <a:t>RAGAS Scores by Architecture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2E4A7A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Single Agent</c:v>
                </c:pt>
                <c:pt idx="1">
                  <c:v>Multi-Agent</c:v>
                </c:pt>
                <c:pt idx="2">
                  <c:v>Hybrid RAG</c:v>
                </c:pt>
                <c:pt idx="3">
                  <c:v>HMA (15/10)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</c:v>
                </c:pt>
                <c:pt idx="1">
                  <c:v>0.8</c:v>
                </c:pt>
                <c:pt idx="2">
                  <c:v>1</c:v>
                </c:pt>
                <c:pt idx="3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DF-48D4-A569-82E69DB9A2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1A7B8C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Single Agent</c:v>
                </c:pt>
                <c:pt idx="1">
                  <c:v>Multi-Agent</c:v>
                </c:pt>
                <c:pt idx="2">
                  <c:v>Hybrid RAG</c:v>
                </c:pt>
                <c:pt idx="3">
                  <c:v>HMA (15/10)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0.74199999999999999</c:v>
                </c:pt>
                <c:pt idx="1">
                  <c:v>0.76700000000000002</c:v>
                </c:pt>
                <c:pt idx="2">
                  <c:v>0.86699999999999999</c:v>
                </c:pt>
                <c:pt idx="3">
                  <c:v>0.73299999999999998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DDF-48D4-A569-82E69DB9A2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Faithfulness</c:v>
                </c:pt>
              </c:strCache>
            </c:strRef>
          </c:tx>
          <c:spPr>
            <a:solidFill>
              <a:srgbClr val="1E7E5E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Single Agent</c:v>
                </c:pt>
                <c:pt idx="1">
                  <c:v>Multi-Agent</c:v>
                </c:pt>
                <c:pt idx="2">
                  <c:v>Hybrid RAG</c:v>
                </c:pt>
                <c:pt idx="3">
                  <c:v>HMA (15/10)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0.78</c:v>
                </c:pt>
                <c:pt idx="1">
                  <c:v>0.65300000000000002</c:v>
                </c:pt>
                <c:pt idx="2">
                  <c:v>0.63300000000000001</c:v>
                </c:pt>
                <c:pt idx="3">
                  <c:v>0.753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DDF-48D4-A569-82E69DB9A2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Relevancy</c:v>
                </c:pt>
              </c:strCache>
            </c:strRef>
          </c:tx>
          <c:spPr>
            <a:solidFill>
              <a:srgbClr val="C9952A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Single Agent</c:v>
                </c:pt>
                <c:pt idx="1">
                  <c:v>Multi-Agent</c:v>
                </c:pt>
                <c:pt idx="2">
                  <c:v>Hybrid RAG</c:v>
                </c:pt>
                <c:pt idx="3">
                  <c:v>HMA (15/10)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0.64100000000000001</c:v>
                </c:pt>
                <c:pt idx="1">
                  <c:v>0.81</c:v>
                </c:pt>
                <c:pt idx="2">
                  <c:v>0.48599999999999999</c:v>
                </c:pt>
                <c:pt idx="3">
                  <c:v>0.82599999999999996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DDF-48D4-A569-82E69DB9A24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Correctness</c:v>
                </c:pt>
              </c:strCache>
            </c:strRef>
          </c:tx>
          <c:spPr>
            <a:solidFill>
              <a:srgbClr val="C47B1A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Single Agent</c:v>
                </c:pt>
                <c:pt idx="1">
                  <c:v>Multi-Agent</c:v>
                </c:pt>
                <c:pt idx="2">
                  <c:v>Hybrid RAG</c:v>
                </c:pt>
                <c:pt idx="3">
                  <c:v>HMA (15/10)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0.69499999999999995</c:v>
                </c:pt>
                <c:pt idx="1">
                  <c:v>0.628</c:v>
                </c:pt>
                <c:pt idx="2">
                  <c:v>0.60799999999999998</c:v>
                </c:pt>
                <c:pt idx="3">
                  <c:v>0.65900000000000003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DDF-48D4-A569-82E69DB9A2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8889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-1097280"/>
            <a:ext cx="4389120" cy="4389120"/>
          </a:xfrm>
          <a:prstGeom prst="ellipse">
            <a:avLst/>
          </a:prstGeom>
          <a:solidFill>
            <a:srgbClr val="2E4A7A">
              <a:alpha val="40000"/>
            </a:srgbClr>
          </a:solidFill>
          <a:ln w="12700">
            <a:solidFill>
              <a:srgbClr val="2E4A7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132320" y="2286000"/>
            <a:ext cx="2926080" cy="2926080"/>
          </a:xfrm>
          <a:prstGeom prst="ellipse">
            <a:avLst/>
          </a:prstGeom>
          <a:solidFill>
            <a:srgbClr val="C9952A">
              <a:alpha val="20000"/>
            </a:srgbClr>
          </a:solidFill>
          <a:ln w="12700">
            <a:solidFill>
              <a:srgbClr val="C9952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FEDERICO II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Legal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320040" y="1627632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System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20040" y="248716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Evaluation Report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" y="2999232"/>
            <a:ext cx="4114800" cy="36576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3246120"/>
            <a:ext cx="1234440" cy="292608"/>
          </a:xfrm>
          <a:prstGeom prst="rect">
            <a:avLst/>
          </a:prstGeom>
          <a:solidFill>
            <a:srgbClr val="2E4A7A"/>
          </a:solidFill>
          <a:ln w="635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32461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09928" y="3246120"/>
            <a:ext cx="1234440" cy="292608"/>
          </a:xfrm>
          <a:prstGeom prst="rect">
            <a:avLst/>
          </a:prstGeom>
          <a:solidFill>
            <a:srgbClr val="2E4A7A"/>
          </a:solidFill>
          <a:ln w="635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09928" y="32461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Estonia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099816" y="3246120"/>
            <a:ext cx="1234440" cy="292608"/>
          </a:xfrm>
          <a:prstGeom prst="rect">
            <a:avLst/>
          </a:prstGeom>
          <a:solidFill>
            <a:srgbClr val="2E4A7A"/>
          </a:solidFill>
          <a:ln w="635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099816" y="32461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Slovenia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chemeClr val="bg1"/>
                </a:solidFill>
              </a:rPr>
              <a:t>- Anindya Sunder Chakravarty	- Rohan Baidya</a:t>
            </a:r>
            <a:endParaRPr lang="en-NP" sz="140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0040" y="428853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Mining Project  |  Prof. Flora Amato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64008" cy="1325880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170432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pipeline answering natural language queries about civil law (inheritance &amp; divorce) across Italy, Estonia, and Slovenia. Four progressively sophisticated architectures compared on retrieval and generation quality.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800600" y="822960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00600" y="822960"/>
            <a:ext cx="64008" cy="1325880"/>
          </a:xfrm>
          <a:prstGeom prst="rect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83480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Corpus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83480" y="1170432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Legal Codes: </a:t>
            </a: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text, civil code articles
</a:t>
            </a: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Court Decisions: </a:t>
            </a: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outcomes, procedural records
</a:t>
            </a: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FAISS Indexes: </a:t>
            </a: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divorce_cases/codes, inheritance_cases/codes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23317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INFRASTRUCTURE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670048"/>
            <a:ext cx="1572768" cy="10972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269748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0040" y="29992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all-MiniLM-L6-v2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384-dim vectors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39112" y="2670048"/>
            <a:ext cx="1572768" cy="1097280"/>
          </a:xfrm>
          <a:prstGeom prst="rect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039112" y="269748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39112" y="29992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tokens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50-token overlap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758184" y="2670048"/>
            <a:ext cx="1572768" cy="1097280"/>
          </a:xfrm>
          <a:prstGeom prst="rect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758184" y="269748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58184" y="29992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API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77256" y="2670048"/>
            <a:ext cx="1572768" cy="1097280"/>
          </a:xfrm>
          <a:prstGeom prst="rect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77256" y="269748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77256" y="29992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ms-marco-MiniLM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 ≥ 0.0 filter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96328" y="2670048"/>
            <a:ext cx="1572768" cy="1097280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196328" y="269748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Fusion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96328" y="29992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 (k=60)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0040" y="391363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per doc:  law (Divorce / Inheritance)  ·  country (Italy / Estonia / Slovenia)  ·  doc_type (case / code)  ·  Eval: 10 Q&amp;A pairs per domain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5760" y="4846320"/>
            <a:ext cx="84124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architectures share the same corpus and vector store — differences lie in orchestration, retrieval strategy, and synthesis logic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0" y="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· top_k=30, final=10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20040" y="7680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PROCESS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78992"/>
            <a:ext cx="347472" cy="34747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78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1078992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07899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Filter: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domain (Divorce/Inheritance) &amp; jurisdiction from query surface form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0060" y="1426464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1645920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16459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Search: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Pre-filter by law + country metadata, retrieve top_k=30 candidates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" y="1993392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12848"/>
            <a:ext cx="347472" cy="34747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2212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2212848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22128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Rerank: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 top_k docs, select top_k_final=10 by cosine similarity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0060" y="2560320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2779776"/>
            <a:ext cx="347472" cy="34747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2004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2779776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8680" y="277977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LLM Call: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Concatenate all 10 docs into one context window → generate answer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" y="3127248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" y="3346704"/>
            <a:ext cx="347472" cy="34747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3346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3346704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8680" y="3346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Grounding: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strictly grounded to retrieved sources only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394960" y="768096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394960" y="768096"/>
            <a:ext cx="64008" cy="2011680"/>
          </a:xfrm>
          <a:prstGeom prst="rect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532120" y="8229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Strengths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111556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Highest answer correctness (0.695)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32120" y="13716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info lost via summarization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32120" y="16276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Simplest, lowest latency pipeline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94960" y="2916936"/>
            <a:ext cx="3429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394960" y="2916936"/>
            <a:ext cx="64008" cy="1463040"/>
          </a:xfrm>
          <a:prstGeom prst="rect">
            <a:avLst/>
          </a:prstGeom>
          <a:solidFill>
            <a:srgbClr val="A63228"/>
          </a:solidFill>
          <a:ln w="12700">
            <a:solidFill>
              <a:srgbClr val="A632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532120" y="29718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63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Limitations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32120" y="32461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Broad answers due to large context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532120" y="350215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Low answer relevancy (0.641)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32120" y="375818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Brittle keyword-based metadata filter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572000"/>
            <a:ext cx="1097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SCORES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55448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55448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0.800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816352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816352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0.742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078224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78224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0.780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0096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40096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0.641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601968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601968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0.695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86384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0.732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0" y="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+ Sub-Agents + Supervisor · top_k=30, final=10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20040" y="7680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PROCESS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78992"/>
            <a:ext cx="347472" cy="347472"/>
          </a:xfrm>
          <a:prstGeom prst="ellipse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78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1078992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07899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Router: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classifies query as Legal vs. General (chitchat bypasses retrieval)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0060" y="1426464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1645920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16459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Routing: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selects which of the 4 FAISS indexes are relevant (vs. keyword heuristic)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" y="1993392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12848"/>
            <a:ext cx="347472" cy="347472"/>
          </a:xfrm>
          <a:prstGeom prst="ellipse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2212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2212848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22128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Spawn: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independent LLM per selected DB; retrieves &amp; generates partial answer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0060" y="2560320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2779776"/>
            <a:ext cx="347472" cy="347472"/>
          </a:xfrm>
          <a:prstGeom prst="ellipse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2004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2779776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8680" y="277977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Answers: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sub-agent answers in isolated, topically coherent context window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" y="3127248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" y="3346704"/>
            <a:ext cx="347472" cy="347472"/>
          </a:xfrm>
          <a:prstGeom prst="ellipse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3346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3346704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8680" y="3346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Synthesis: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LLM merges all sub-answers, resolves contradictions, cites evidence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394960" y="768096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394960" y="768096"/>
            <a:ext cx="64008" cy="2011680"/>
          </a:xfrm>
          <a:prstGeom prst="rect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532120" y="8229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Strengths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111556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answer relevancy (0.810)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32120" y="13716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Reduced hallucination for off-topic queries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32120" y="16276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LLM-based routing handles ambiguous phrasings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94960" y="2916936"/>
            <a:ext cx="3429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394960" y="2916936"/>
            <a:ext cx="64008" cy="1463040"/>
          </a:xfrm>
          <a:prstGeom prst="rect">
            <a:avLst/>
          </a:prstGeom>
          <a:solidFill>
            <a:srgbClr val="A63228"/>
          </a:solidFill>
          <a:ln w="12700">
            <a:solidFill>
              <a:srgbClr val="A632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532120" y="29718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63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Limitations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32120" y="32461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Lowest answer correctness (0.628)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532120" y="350215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Supervisor may drop specific facts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32120" y="375818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Higher latency (multiple LLM calls)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572000"/>
            <a:ext cx="1097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SCORES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55448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55448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0.800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816352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816352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0.767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078224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78224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0.653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0096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40096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601968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601968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0.628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86384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0.732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0" y="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Metadata + BM25+RRF + Cross-Encoder · top_k=30, final=10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20040" y="7680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PROCESS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78992"/>
            <a:ext cx="347472" cy="347472"/>
          </a:xfrm>
          <a:prstGeom prst="ellipse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78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1078992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07899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Metadata Extract: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query into JSON (LEGAL_METADATA_SCHEMA): law, codes, cost, duration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0060" y="1426464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1645920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16459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Two-Phase FAISS: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full metadata filter; Phase 2 fallback: law-only if &lt;top_k returned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" y="1993392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12848"/>
            <a:ext cx="347472" cy="347472"/>
          </a:xfrm>
          <a:prstGeom prst="ellipse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2212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2212848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22128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RRF Fusion: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FAISS ranks fused with BM25 sparse ranks via RRF (k=60)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0060" y="2560320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2779776"/>
            <a:ext cx="347472" cy="347472"/>
          </a:xfrm>
          <a:prstGeom prst="ellipse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2004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2779776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8680" y="277977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Filter: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ms-marco-MiniLM logit ≥ 0.0 threshold; discard marginal documents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" y="3127248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" y="3346704"/>
            <a:ext cx="347472" cy="347472"/>
          </a:xfrm>
          <a:prstGeom prst="ellipse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3346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3346704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8680" y="3346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LLM Call: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surviving docs + extracted metadata string → generate answer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394960" y="768096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394960" y="768096"/>
            <a:ext cx="64008" cy="2011680"/>
          </a:xfrm>
          <a:prstGeom prst="rect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532120" y="8229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Strengths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111556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precision (1.000) &amp; recall (0.867)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32120" y="13716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BM25 captures article numbers &amp; Latin phrases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32120" y="16276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Structured metadata improves jurisdictional framing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94960" y="2916936"/>
            <a:ext cx="3429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394960" y="2916936"/>
            <a:ext cx="64008" cy="1463040"/>
          </a:xfrm>
          <a:prstGeom prst="rect">
            <a:avLst/>
          </a:prstGeom>
          <a:solidFill>
            <a:srgbClr val="A63228"/>
          </a:solidFill>
          <a:ln w="12700">
            <a:solidFill>
              <a:srgbClr val="A632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532120" y="29718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63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Limitations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32120" y="32461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Worst answer relevancy (0.486)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532120" y="350215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Large single-pass context causes hedging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32120" y="375818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Aggregation bottleneck despite perfect retrieval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572000"/>
            <a:ext cx="1097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SCORES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55448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55448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816352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816352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0.867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078224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78224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0.633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0096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40096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0.486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601968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601968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0.608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86384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0.719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MULTI-AGENT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0" y="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Architecture · Optimal: top_k=15, final=10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20040" y="7680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PROCESS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78992"/>
            <a:ext cx="347472" cy="347472"/>
          </a:xfrm>
          <a:prstGeom prst="ellipse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78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1078992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07899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Hybrid Retrieval: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metadata extract → two-phase FAISS → BM25+RRF → cross-encoder filter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0060" y="1426464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1645920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16459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by Source DB: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pool split back by source index instead of single context dump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" y="1993392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12848"/>
            <a:ext cx="347472" cy="347472"/>
          </a:xfrm>
          <a:prstGeom prst="ellipse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2212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2212848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22128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per DB: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LLM per partition; isolated, compact, topically coherent context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0060" y="2560320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2779776"/>
            <a:ext cx="347472" cy="347472"/>
          </a:xfrm>
          <a:prstGeom prst="ellipse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2004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2779776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8680" y="277977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Synthesis: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sub-answers + extracted metadata + cross-checked evidence summary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" y="3127248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" y="3346704"/>
            <a:ext cx="347472" cy="347472"/>
          </a:xfrm>
          <a:prstGeom prst="ellipse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3346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3346704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8680" y="3346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top_k=15: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context maximises faithfulness &amp; relevancy; top_k&gt;15 degrades both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394960" y="768096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394960" y="768096"/>
            <a:ext cx="64008" cy="2011680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532120" y="8229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Strengths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111556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Highest mean RAGAS score (0.766)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32120" y="13716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faithfulness </a:t>
            </a:r>
            <a:r>
              <a:rPr lang="en-US" sz="95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(0.775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+ relevancy </a:t>
            </a:r>
            <a:r>
              <a:rPr lang="en-US" sz="95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(0.821)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32120" y="16276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Combines best of hybrid retrieval &amp; sub-agent focus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94960" y="2916936"/>
            <a:ext cx="3429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394960" y="2916936"/>
            <a:ext cx="64008" cy="1463040"/>
          </a:xfrm>
          <a:prstGeom prst="rect">
            <a:avLst/>
          </a:prstGeom>
          <a:solidFill>
            <a:srgbClr val="A63228"/>
          </a:solidFill>
          <a:ln w="12700">
            <a:solidFill>
              <a:srgbClr val="A632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532120" y="29718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63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Limitations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32120" y="32461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Higher latency (most LLM calls)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532120" y="350215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Correctness still bounded by base LLM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32120" y="375818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Degradation if top_k exceeds 15 docs/sub-agent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572000"/>
            <a:ext cx="1097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SCORES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55448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55448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0.800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816352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816352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0.733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078224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78224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0.753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0096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40096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0.826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601968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601968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0.659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86384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0.754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 — RAGAS EVALUATION</a:t>
            </a:r>
            <a:endParaRPr lang="en-US" sz="15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749808"/>
          <a:ext cx="56692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172200" y="7680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SCORE RANKING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126480" y="1097280"/>
            <a:ext cx="2880360" cy="512064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126480" y="1097280"/>
            <a:ext cx="2171791" cy="512064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236208" y="1133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Hybrid Multi-Agent (15/10)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6236208" y="13716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0.754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1719072"/>
            <a:ext cx="2880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126480" y="1719072"/>
            <a:ext cx="2163150" cy="512064"/>
          </a:xfrm>
          <a:prstGeom prst="rect">
            <a:avLst/>
          </a:prstGeom>
          <a:solidFill>
            <a:srgbClr val="C47B1A">
              <a:alpha val="25000"/>
            </a:srgbClr>
          </a:solidFill>
          <a:ln w="12700">
            <a:solidFill>
              <a:srgbClr val="C47B1A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36208" y="17556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Hybrid Multi-Agent (10/7)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236208" y="199339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26480" y="2340864"/>
            <a:ext cx="2880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126480" y="2340864"/>
            <a:ext cx="2160270" cy="512064"/>
          </a:xfrm>
          <a:prstGeom prst="rect">
            <a:avLst/>
          </a:prstGeom>
          <a:solidFill>
            <a:srgbClr val="C47B1A">
              <a:alpha val="25000"/>
            </a:srgbClr>
          </a:solidFill>
          <a:ln w="12700">
            <a:solidFill>
              <a:srgbClr val="C47B1A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236208" y="23774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Hybrid Multi-Agent (20/10)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236208" y="2615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0.750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0" y="2962656"/>
            <a:ext cx="2880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126480" y="2962656"/>
            <a:ext cx="2142988" cy="512064"/>
          </a:xfrm>
          <a:prstGeom prst="rect">
            <a:avLst/>
          </a:prstGeom>
          <a:solidFill>
            <a:srgbClr val="C47B1A">
              <a:alpha val="25000"/>
            </a:srgbClr>
          </a:solidFill>
          <a:ln w="12700">
            <a:solidFill>
              <a:srgbClr val="C47B1A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236208" y="29992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 Hybrid Multi-Agent (30/10)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236208" y="32369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0.744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126480" y="3584448"/>
            <a:ext cx="2880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6126480" y="3584448"/>
            <a:ext cx="2108424" cy="512064"/>
          </a:xfrm>
          <a:prstGeom prst="rect">
            <a:avLst/>
          </a:prstGeom>
          <a:solidFill>
            <a:srgbClr val="2E4A7A">
              <a:alpha val="25000"/>
            </a:srgbClr>
          </a:solidFill>
          <a:ln w="12700">
            <a:solidFill>
              <a:srgbClr val="2E4A7A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236208" y="3621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  Single Agent (30/10)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236208" y="385876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0.732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20040" y="43891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Target threshold: 0.80 (per-metric)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365760" y="4846320"/>
            <a:ext cx="84124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Multi-Agent (top_k=15, final=10) achieves the highest mean RAGAS score of 0.754 — the optimal configuration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PRINCIPLES &amp; CONCLUSIONS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206240" cy="1737360"/>
          </a:xfrm>
          <a:prstGeom prst="rect">
            <a:avLst/>
          </a:prstGeom>
          <a:solidFill>
            <a:srgbClr val="1E3460"/>
          </a:solidFill>
          <a:ln w="12700">
            <a:solidFill>
              <a:srgbClr val="1A7B8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64008" cy="1737360"/>
          </a:xfrm>
          <a:prstGeom prst="rect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8961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7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38912" y="1225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is the #1 Hyperparameter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57276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sub-agent context (10–15 docs) consistently outperforms large context (30 docs). Faithfulness delta of +0.152 between top_k=7 vs top_k=10. Use smallest top_k that achieves adequate recall.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800600" y="804672"/>
            <a:ext cx="4206240" cy="1737360"/>
          </a:xfrm>
          <a:prstGeom prst="rect">
            <a:avLst/>
          </a:prstGeom>
          <a:solidFill>
            <a:srgbClr val="1E3460"/>
          </a:solidFill>
          <a:ln w="12700">
            <a:solidFill>
              <a:srgbClr val="C995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00600" y="804672"/>
            <a:ext cx="64008" cy="1737360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65192" y="8961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95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65192" y="1225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Retrieval ≠ Perfect Generation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65192" y="157276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 achieves precision=1.000 yet lowest relevancy (0.486). A single LLM receiving 30 perfect docs still fails to synthesize a focused answer — generation architecture matters as much as retrieval.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743200"/>
            <a:ext cx="4206240" cy="1737360"/>
          </a:xfrm>
          <a:prstGeom prst="rect">
            <a:avLst/>
          </a:prstGeom>
          <a:solidFill>
            <a:srgbClr val="1E3460"/>
          </a:solidFill>
          <a:ln w="12700">
            <a:solidFill>
              <a:srgbClr val="C47B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64008" cy="1737360"/>
          </a:xfrm>
          <a:prstGeom prst="rect">
            <a:avLst/>
          </a:prstGeom>
          <a:solidFill>
            <a:srgbClr val="C47B1A"/>
          </a:solidFill>
          <a:ln w="12700">
            <a:solidFill>
              <a:srgbClr val="C47B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38912" y="28346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38912" y="31638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is Bounded by the Base LLM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511296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range across all architectures is only 0.087 pts. Simpler pipeline (Single Agent) scores highest because no synthesis steps drop details. Pipeline changes alone cannot push this metric further.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00600" y="2743200"/>
            <a:ext cx="4206240" cy="1737360"/>
          </a:xfrm>
          <a:prstGeom prst="rect">
            <a:avLst/>
          </a:prstGeom>
          <a:solidFill>
            <a:srgbClr val="1E3460"/>
          </a:solidFill>
          <a:ln w="12700">
            <a:solidFill>
              <a:srgbClr val="1E7E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00600" y="2743200"/>
            <a:ext cx="64008" cy="1737360"/>
          </a:xfrm>
          <a:prstGeom prst="rect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65192" y="28346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7E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965192" y="31638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BM25+RRF is Critical for Legal Text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65192" y="3511296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lexical matches on article numbers, statute IDs, and Latin phrases carry high discriminative value that dense embeddings underweight. Hybrid retrieval meaningfully improves precision.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solidFill>
            <a:srgbClr val="2E4A7A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1480" y="461772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Next Step: Rebuild FAISS indexes using BAAI/bge-base-en-v1.5 (768-dim) to improve semantic capture across jurisdictions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1164</Words>
  <Application>Microsoft Macintosh PowerPoint</Application>
  <PresentationFormat>On-screen Show (16:9)</PresentationFormat>
  <Paragraphs>209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Legal RAG System</dc:title>
  <dc:subject>PptxGenJS Presentation</dc:subject>
  <dc:creator>PptxGenJS</dc:creator>
  <cp:lastModifiedBy>ROHAN BAIDYA</cp:lastModifiedBy>
  <cp:revision>4</cp:revision>
  <dcterms:created xsi:type="dcterms:W3CDTF">2026-02-24T00:51:10Z</dcterms:created>
  <dcterms:modified xsi:type="dcterms:W3CDTF">2026-05-19T12:50:27Z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d0b24d-6422-44b0-b3de-abb3a9e8c81a_Enabled">
    <vt:lpwstr>true</vt:lpwstr>
  </property>
  <property fmtid="{D5CDD505-2E9C-101B-9397-08002B2CF9AE}" pid="3" name="MSIP_Label_2ad0b24d-6422-44b0-b3de-abb3a9e8c81a_SetDate">
    <vt:lpwstr>2026-02-24T00:57:11Z</vt:lpwstr>
  </property>
  <property fmtid="{D5CDD505-2E9C-101B-9397-08002B2CF9AE}" pid="4" name="MSIP_Label_2ad0b24d-6422-44b0-b3de-abb3a9e8c81a_Method">
    <vt:lpwstr>Standard</vt:lpwstr>
  </property>
  <property fmtid="{D5CDD505-2E9C-101B-9397-08002B2CF9AE}" pid="5" name="MSIP_Label_2ad0b24d-6422-44b0-b3de-abb3a9e8c81a_Name">
    <vt:lpwstr>defa4170-0d19-0005-0004-bc88714345d2</vt:lpwstr>
  </property>
  <property fmtid="{D5CDD505-2E9C-101B-9397-08002B2CF9AE}" pid="6" name="MSIP_Label_2ad0b24d-6422-44b0-b3de-abb3a9e8c81a_SiteId">
    <vt:lpwstr>2fcfe26a-bb62-46b0-b1e3-28f9da0c45fd</vt:lpwstr>
  </property>
  <property fmtid="{D5CDD505-2E9C-101B-9397-08002B2CF9AE}" pid="7" name="MSIP_Label_2ad0b24d-6422-44b0-b3de-abb3a9e8c81a_ActionId">
    <vt:lpwstr>b0a9e8b4-974f-467d-92c6-bb84b1b5fc98</vt:lpwstr>
  </property>
  <property fmtid="{D5CDD505-2E9C-101B-9397-08002B2CF9AE}" pid="8" name="MSIP_Label_2ad0b24d-6422-44b0-b3de-abb3a9e8c81a_ContentBits">
    <vt:lpwstr>0</vt:lpwstr>
  </property>
  <property fmtid="{D5CDD505-2E9C-101B-9397-08002B2CF9AE}" pid="9" name="MSIP_Label_2ad0b24d-6422-44b0-b3de-abb3a9e8c81a_Tag">
    <vt:lpwstr>10, 3, 0, 1</vt:lpwstr>
  </property>
</Properties>
</file>