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charts/chart1.xml" ContentType="application/vnd.openxmlformats-officedocument.drawingml.chart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5" Type="http://schemas.openxmlformats.org/officeDocument/2006/relationships/custom-properties" Target="docProps/custom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0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09" d="100"/>
          <a:sy n="109" d="100"/>
        </p:scale>
        <p:origin x="706" y="8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viewProps" Target="view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presProps" Target="presProps.xml"/><Relationship Id="rId5" Type="http://schemas.openxmlformats.org/officeDocument/2006/relationships/slide" Target="slides/slide4.xml"/><Relationship Id="rId10" Type="http://schemas.openxmlformats.org/officeDocument/2006/relationships/notesMaster" Target="notesMasters/notesMaster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ableStyles" Target="tableStyles.xml"/></Relationships>
</file>

<file path=ppt/charts/_rels/chart1.xml.rels><?xml version="1.0" encoding="UTF-8" standalone="yes"?>
<Relationships xmlns="http://schemas.openxmlformats.org/package/2006/relationships"><Relationship Id="rId1" Type="http://schemas.openxmlformats.org/officeDocument/2006/relationships/package" Target="../embeddings/Microsoft_Excel_Worksheet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c:style val="2"/>
  <c:chart>
    <c:title>
      <c:tx>
        <c:rich>
          <a:bodyPr/>
          <a:lstStyle/>
          <a:p>
            <a:pPr>
              <a:defRPr sz="1100" b="0" i="0" u="none" strike="noStrike">
                <a:solidFill>
                  <a:srgbClr val="000000"/>
                </a:solidFill>
                <a:latin typeface="Arial"/>
              </a:defRPr>
            </a:pPr>
            <a:r>
              <a:rPr lang="en-US" sz="1100" b="0" i="0" u="none" strike="noStrike">
                <a:solidFill>
                  <a:srgbClr val="000000"/>
                </a:solidFill>
                <a:latin typeface="Arial"/>
              </a:rPr>
              <a:t>RAGAS Scores by Architecture</a:t>
            </a:r>
          </a:p>
        </c:rich>
      </c:tx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Precision</c:v>
                </c:pt>
              </c:strCache>
            </c:strRef>
          </c:tx>
          <c:spPr>
            <a:solidFill>
              <a:srgbClr val="2E4A7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0.8</c:v>
                </c:pt>
                <c:pt idx="1">
                  <c:v>0.8</c:v>
                </c:pt>
                <c:pt idx="2">
                  <c:v>1</c:v>
                </c:pt>
                <c:pt idx="3">
                  <c:v>0.8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0-DDDF-48D4-A569-82E69DB9A24F}"/>
            </c:ext>
          </c:extLst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Recall</c:v>
                </c:pt>
              </c:strCache>
            </c:strRef>
          </c:tx>
          <c:spPr>
            <a:solidFill>
              <a:srgbClr val="1A7B8C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0.74199999999999999</c:v>
                </c:pt>
                <c:pt idx="1">
                  <c:v>0.76700000000000002</c:v>
                </c:pt>
                <c:pt idx="2">
                  <c:v>0.86699999999999999</c:v>
                </c:pt>
                <c:pt idx="3">
                  <c:v>0.73299999999999998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1-DDDF-48D4-A569-82E69DB9A24F}"/>
            </c:ext>
          </c:extLst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Faithfulness</c:v>
                </c:pt>
              </c:strCache>
            </c:strRef>
          </c:tx>
          <c:spPr>
            <a:solidFill>
              <a:srgbClr val="1E7E5E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Sheet1!$D$2:$D$5</c:f>
              <c:numCache>
                <c:formatCode>General</c:formatCode>
                <c:ptCount val="4"/>
                <c:pt idx="0">
                  <c:v>0.78</c:v>
                </c:pt>
                <c:pt idx="1">
                  <c:v>0.65300000000000002</c:v>
                </c:pt>
                <c:pt idx="2">
                  <c:v>0.63300000000000001</c:v>
                </c:pt>
                <c:pt idx="3">
                  <c:v>0.753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DDDF-48D4-A569-82E69DB9A24F}"/>
            </c:ext>
          </c:extLst>
        </c:ser>
        <c:ser>
          <c:idx val="3"/>
          <c:order val="3"/>
          <c:tx>
            <c:strRef>
              <c:f>Sheet1!$E$1</c:f>
              <c:strCache>
                <c:ptCount val="1"/>
                <c:pt idx="0">
                  <c:v>Relevancy</c:v>
                </c:pt>
              </c:strCache>
            </c:strRef>
          </c:tx>
          <c:spPr>
            <a:solidFill>
              <a:srgbClr val="C9952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Sheet1!$E$2:$E$5</c:f>
              <c:numCache>
                <c:formatCode>General</c:formatCode>
                <c:ptCount val="4"/>
                <c:pt idx="0">
                  <c:v>0.64100000000000001</c:v>
                </c:pt>
                <c:pt idx="1">
                  <c:v>0.81</c:v>
                </c:pt>
                <c:pt idx="2">
                  <c:v>0.48599999999999999</c:v>
                </c:pt>
                <c:pt idx="3">
                  <c:v>0.82599999999999996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3-DDDF-48D4-A569-82E69DB9A24F}"/>
            </c:ext>
          </c:extLst>
        </c:ser>
        <c:ser>
          <c:idx val="4"/>
          <c:order val="4"/>
          <c:tx>
            <c:strRef>
              <c:f>Sheet1!$F$1</c:f>
              <c:strCache>
                <c:ptCount val="1"/>
                <c:pt idx="0">
                  <c:v>Correctness</c:v>
                </c:pt>
              </c:strCache>
            </c:strRef>
          </c:tx>
          <c:spPr>
            <a:solidFill>
              <a:srgbClr val="C47B1A"/>
            </a:solidFill>
            <a:effectLst/>
          </c:spPr>
          <c:invertIfNegative val="0"/>
          <c:cat>
            <c:strRef>
              <c:f>Sheet1!$A$2:$A$5</c:f>
              <c:strCache>
                <c:ptCount val="4"/>
                <c:pt idx="0">
                  <c:v>Single Agent</c:v>
                </c:pt>
                <c:pt idx="1">
                  <c:v>Multi-Agent</c:v>
                </c:pt>
                <c:pt idx="2">
                  <c:v>Hybrid RAG</c:v>
                </c:pt>
                <c:pt idx="3">
                  <c:v>HMA (15/10)</c:v>
                </c:pt>
              </c:strCache>
            </c:strRef>
          </c:cat>
          <c:val>
            <c:numRef>
              <c:f>Sheet1!$F$2:$F$5</c:f>
              <c:numCache>
                <c:formatCode>General</c:formatCode>
                <c:ptCount val="4"/>
                <c:pt idx="0">
                  <c:v>0.69499999999999995</c:v>
                </c:pt>
                <c:pt idx="1">
                  <c:v>0.628</c:v>
                </c:pt>
                <c:pt idx="2">
                  <c:v>0.60799999999999998</c:v>
                </c:pt>
                <c:pt idx="3">
                  <c:v>0.65900000000000003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4-DDDF-48D4-A569-82E69DB9A24F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150"/>
        <c:axId val="2094734554"/>
        <c:axId val="2094734552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2"/>
        <c:crosses val="autoZero"/>
        <c:auto val="1"/>
        <c:lblAlgn val="ctr"/>
        <c:lblOffset val="100"/>
        <c:noMultiLvlLbl val="1"/>
      </c:catAx>
      <c:valAx>
        <c:axId val="2094734552"/>
        <c:scaling>
          <c:orientation val="minMax"/>
          <c:max val="1.05"/>
          <c:min val="0"/>
        </c:scaling>
        <c:delete val="0"/>
        <c:axPos val="l"/>
        <c:majorGridlines>
          <c:spPr>
            <a:ln w="6350" cap="flat">
              <a:solidFill>
                <a:srgbClr val="E2E8F0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64748B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solidFill>
          <a:srgbClr val="FFFFFF"/>
        </a:solidFill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/>
          </a:pPr>
          <a:endParaRPr lang="en-US"/>
        </a:p>
      </c:txPr>
    </c:legend>
    <c:plotVisOnly val="1"/>
    <c:dispBlanksAs val="span"/>
    <c:showDLblsOverMax val="1"/>
  </c:chart>
  <c:spPr>
    <a:solidFill>
      <a:srgbClr val="FFFFFF"/>
    </a:solidFill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4888986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chart" Target="../charts/chart1.xml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09728" cy="514350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6583680" y="-1097280"/>
            <a:ext cx="4389120" cy="4389120"/>
          </a:xfrm>
          <a:prstGeom prst="ellipse">
            <a:avLst/>
          </a:prstGeom>
          <a:solidFill>
            <a:srgbClr val="2E4A7A">
              <a:alpha val="40000"/>
            </a:srgbClr>
          </a:solidFill>
          <a:ln w="12700">
            <a:solidFill>
              <a:srgbClr val="2E4A7A">
                <a:alpha val="4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Shape 2"/>
          <p:cNvSpPr/>
          <p:nvPr/>
        </p:nvSpPr>
        <p:spPr>
          <a:xfrm>
            <a:off x="7132320" y="2286000"/>
            <a:ext cx="2926080" cy="2926080"/>
          </a:xfrm>
          <a:prstGeom prst="ellipse">
            <a:avLst/>
          </a:prstGeom>
          <a:solidFill>
            <a:srgbClr val="C9952A">
              <a:alpha val="20000"/>
            </a:srgbClr>
          </a:solidFill>
          <a:ln w="12700">
            <a:solidFill>
              <a:srgbClr val="C9952A">
                <a:alpha val="20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0040" y="256032"/>
            <a:ext cx="6858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FEDERICO II</a:t>
            </a:r>
            <a:endParaRPr lang="en-US" sz="900" dirty="0"/>
          </a:p>
        </p:txBody>
      </p:sp>
      <p:sp>
        <p:nvSpPr>
          <p:cNvPr id="6" name="Text 4"/>
          <p:cNvSpPr/>
          <p:nvPr/>
        </p:nvSpPr>
        <p:spPr>
          <a:xfrm>
            <a:off x="320040" y="914400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Agentic Legal</a:t>
            </a:r>
            <a:endParaRPr lang="en-US" sz="5400" dirty="0"/>
          </a:p>
        </p:txBody>
      </p:sp>
      <p:sp>
        <p:nvSpPr>
          <p:cNvPr id="7" name="Text 5"/>
          <p:cNvSpPr/>
          <p:nvPr/>
        </p:nvSpPr>
        <p:spPr>
          <a:xfrm>
            <a:off x="320040" y="1627632"/>
            <a:ext cx="73152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5400" b="1" dirty="0">
                <a:solidFill>
                  <a:srgbClr val="E8B84B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RAG System</a:t>
            </a:r>
            <a:endParaRPr lang="en-US" sz="5400" dirty="0"/>
          </a:p>
        </p:txBody>
      </p:sp>
      <p:sp>
        <p:nvSpPr>
          <p:cNvPr id="8" name="Text 6"/>
          <p:cNvSpPr/>
          <p:nvPr/>
        </p:nvSpPr>
        <p:spPr>
          <a:xfrm>
            <a:off x="320040" y="2487168"/>
            <a:ext cx="73152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i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Evaluation Report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320040" y="2999232"/>
            <a:ext cx="4114800" cy="36576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320040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320040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Italy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1709928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1709928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Estonia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3099816" y="3246120"/>
            <a:ext cx="1234440" cy="292608"/>
          </a:xfrm>
          <a:prstGeom prst="rect">
            <a:avLst/>
          </a:prstGeom>
          <a:solidFill>
            <a:srgbClr val="2E4A7A"/>
          </a:solidFill>
          <a:ln w="635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099816" y="3246120"/>
            <a:ext cx="1234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Slovenia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320040" y="46634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Francesco Ventimiglia  ·  Danilo Rodriguez  ·  Hussain Ullah Baig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320040" y="4892040"/>
            <a:ext cx="7315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Text Mining Project  |  Prof. Flora Amato</a:t>
            </a:r>
            <a:endParaRPr lang="en-US" sz="9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SYSTEM OVERVIEW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20040" y="82296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20040" y="822960"/>
            <a:ext cx="64008" cy="13258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02920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It Does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502920" y="1170432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RAG pipeline answering natural language queries about civil law (inheritance &amp; divorce) across Italy, Estonia, and Slovenia. Four progressively sophisticated architectures compared on retrieval and generation quality.</a:t>
            </a:r>
            <a:endParaRPr lang="en-US" sz="1050" dirty="0"/>
          </a:p>
        </p:txBody>
      </p:sp>
      <p:sp>
        <p:nvSpPr>
          <p:cNvPr id="8" name="Shape 6"/>
          <p:cNvSpPr/>
          <p:nvPr/>
        </p:nvSpPr>
        <p:spPr>
          <a:xfrm>
            <a:off x="4800600" y="822960"/>
            <a:ext cx="4023360" cy="13258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800600" y="822960"/>
            <a:ext cx="64008" cy="13258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83480" y="877824"/>
            <a:ext cx="3657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Document Corpus</a:t>
            </a: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4983480" y="1170432"/>
            <a:ext cx="3657600" cy="8778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Legal Codes: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Statutory text, civil code articles
</a:t>
            </a: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Court Decisions: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Case outcomes, procedural records
</a:t>
            </a:r>
            <a:r>
              <a:rPr lang="en-US" sz="1050" b="1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4 FAISS Indexes: </a:t>
            </a:r>
            <a:r>
              <a:rPr lang="en-US" sz="10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divorce_cases/codes, inheritance_cases/codes</a:t>
            </a:r>
            <a:endParaRPr lang="en-US" sz="1050" dirty="0"/>
          </a:p>
        </p:txBody>
      </p:sp>
      <p:sp>
        <p:nvSpPr>
          <p:cNvPr id="12" name="Text 10"/>
          <p:cNvSpPr/>
          <p:nvPr/>
        </p:nvSpPr>
        <p:spPr>
          <a:xfrm>
            <a:off x="320040" y="2331720"/>
            <a:ext cx="850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SHARED INFRASTRUCTURE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320040" y="2670048"/>
            <a:ext cx="1572768" cy="10972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Embedding</a:t>
            </a:r>
            <a:endParaRPr lang="en-US" sz="1100" dirty="0"/>
          </a:p>
        </p:txBody>
      </p:sp>
      <p:sp>
        <p:nvSpPr>
          <p:cNvPr id="15" name="Text 13"/>
          <p:cNvSpPr/>
          <p:nvPr/>
        </p:nvSpPr>
        <p:spPr>
          <a:xfrm>
            <a:off x="320040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all-MiniLM-L6-v2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384-dim vectors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2039112" y="2670048"/>
            <a:ext cx="1572768" cy="1097280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2039112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Chunking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2039112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512 tokens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50-token overlap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3758184" y="2670048"/>
            <a:ext cx="1572768" cy="10972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3758184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3758184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GPT-4o-mini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OpenRouter API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477256" y="2670048"/>
            <a:ext cx="1572768" cy="109728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Text 21"/>
          <p:cNvSpPr/>
          <p:nvPr/>
        </p:nvSpPr>
        <p:spPr>
          <a:xfrm>
            <a:off x="5477256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477256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Logit ≥ 0.0 filter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7196328" y="2670048"/>
            <a:ext cx="1572768" cy="10972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7196328" y="2697480"/>
            <a:ext cx="1572768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Fusion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999232"/>
            <a:ext cx="1572768" cy="71323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RRF (k=60)</a:t>
            </a:r>
            <a:endParaRPr lang="en-US" sz="950" dirty="0"/>
          </a:p>
          <a:p>
            <a:pPr marL="0" indent="0" algn="ctr">
              <a:buNone/>
            </a:pPr>
            <a:r>
              <a:rPr lang="en-US" sz="9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+ Sparse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320040" y="3913632"/>
            <a:ext cx="8503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5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Metadata per doc:  law (Divorce / Inheritance)  ·  country (Italy / Estonia / Slovenia)  ·  doc_type (case / code)  ·  Eval: 10 Q&amp;A pairs per domain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4846320"/>
            <a:ext cx="84124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Four architectures share the same corpus and vector store — differences lie in orchestration, retrieval strategy, and synthesis logic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Baseline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Keyword Filter: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Extract domain (Divorce/Inheritance) &amp; jurisdiction from query surface form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FAISS Search: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Pre-filter by law + country metadata, retrieve top_k=30 candidates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Cosine Rerank: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Re-score top_k docs, select top_k_final=10 by cosine similarity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Call: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Concatenate all 10 docs into one context window → generate answer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2E4A7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Strict Grounding: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Prompt strictly grounded to retrieved sources only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2E4A7A"/>
          </a:solidFill>
          <a:ln w="12700">
            <a:solidFill>
              <a:srgbClr val="2E4A7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answer correctness (0.695)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No info lost via summarization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Simplest, lowest latency pipeline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Broad answers due to large context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 answer relevancy (0.641)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Brittle keyword-based metadata filter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0.742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0.780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0.641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0.695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3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MULTI-AGENT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Router + Sub-Agents + Supervisor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Intelligent Router: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classifies query as Legal vs. General (chitchat bypasses retrieval)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DB Routing: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selects which of the 4 FAISS indexes are relevant (vs. keyword heuristic)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Spawn: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independent LLM per selected DB; retrieves &amp; generates partial answer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Partial Answers: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sub-agent answers in isolated, topically coherent context window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A7B8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Synthesis: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LLM merges all sub-answers, resolves contradictions, cites evidence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answer relevancy (0.810)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Reduced hallucination for off-topic queries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LLM-based routing handles ambiguous phrasings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Lowest answer correctness (0.628)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Supervisor may drop specific facts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Higher latency (multiple LLM calls)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0.767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0.810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0.628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3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Structured Metadata + BM25+RRF + Cross-Encoder · top_k=30,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Metadata Extract: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Parse query into JSON (LEGAL_METADATA_SCHEMA): law, codes, cost, duration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Two-Phase FAISS: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Phase 1: full metadata filter; Phase 2 fallback: law-only if &lt;top_k returned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 + RRF Fusion: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Dense FAISS ranks fused with BM25 sparse ranks via RRF (k=60)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Cross-Encoder Filter: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ms-marco-MiniLM logit ≥ 0.0 threshold; discard marginal documents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Single LLM Call: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surviving docs + extracted metadata string → generate answer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precision (1.000) &amp; recall (0.867)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BM25 captures article numbers &amp; Latin phrases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Structured metadata improves jurisdictional framing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Worst answer relevancy (0.486)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Large single-pass context causes hedging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Aggregation bottleneck despite perfect retrieval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1.000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0.867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0.633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0.486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0.608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0.719</a:t>
            </a:r>
            <a:endParaRPr lang="en-US" sz="13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Shape 1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" name="Text 2"/>
          <p:cNvSpPr/>
          <p:nvPr/>
        </p:nvSpPr>
        <p:spPr>
          <a:xfrm>
            <a:off x="0" y="0"/>
            <a:ext cx="658368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2200" dirty="0"/>
          </a:p>
        </p:txBody>
      </p:sp>
      <p:sp>
        <p:nvSpPr>
          <p:cNvPr id="5" name="Text 3"/>
          <p:cNvSpPr/>
          <p:nvPr/>
        </p:nvSpPr>
        <p:spPr>
          <a:xfrm>
            <a:off x="749808" y="0"/>
            <a:ext cx="64008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MULTI-AGENT</a:t>
            </a:r>
            <a:endParaRPr lang="en-US" sz="1500" dirty="0"/>
          </a:p>
        </p:txBody>
      </p:sp>
      <p:sp>
        <p:nvSpPr>
          <p:cNvPr id="6" name="Text 4"/>
          <p:cNvSpPr/>
          <p:nvPr/>
        </p:nvSpPr>
        <p:spPr>
          <a:xfrm>
            <a:off x="7132320" y="0"/>
            <a:ext cx="192024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85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Architecture · Optimal: top_k=15, final=10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320040" y="768096"/>
            <a:ext cx="47548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b="1" kern="0" spc="2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PROCESS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320040" y="1078992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320040" y="1078992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777240" y="1078992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868680" y="1078992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Hybrid Retrieval: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LLM metadata extract → two-phase FAISS → BM25+RRF → cross-encoder filter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480060" y="1426464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20040" y="1645920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320040" y="1645920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Shape 13"/>
          <p:cNvSpPr/>
          <p:nvPr/>
        </p:nvSpPr>
        <p:spPr>
          <a:xfrm>
            <a:off x="777240" y="1645920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868680" y="1645920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Partition by Source DB: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Retrieved pool split back by source index instead of single context dump</a:t>
            </a:r>
            <a:endParaRPr lang="en-US" sz="950" dirty="0"/>
          </a:p>
        </p:txBody>
      </p:sp>
      <p:sp>
        <p:nvSpPr>
          <p:cNvPr id="17" name="Shape 15"/>
          <p:cNvSpPr/>
          <p:nvPr/>
        </p:nvSpPr>
        <p:spPr>
          <a:xfrm>
            <a:off x="480060" y="1993392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6"/>
          <p:cNvSpPr/>
          <p:nvPr/>
        </p:nvSpPr>
        <p:spPr>
          <a:xfrm>
            <a:off x="320040" y="2212848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Text 17"/>
          <p:cNvSpPr/>
          <p:nvPr/>
        </p:nvSpPr>
        <p:spPr>
          <a:xfrm>
            <a:off x="320040" y="2212848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777240" y="2212848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868680" y="2212848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Sub-Agent per DB: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LLM per partition; isolated, compact, topically coherent context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80060" y="2560320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3" name="Shape 21"/>
          <p:cNvSpPr/>
          <p:nvPr/>
        </p:nvSpPr>
        <p:spPr>
          <a:xfrm>
            <a:off x="320040" y="2779776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2"/>
          <p:cNvSpPr/>
          <p:nvPr/>
        </p:nvSpPr>
        <p:spPr>
          <a:xfrm>
            <a:off x="320040" y="2779776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100" dirty="0"/>
          </a:p>
        </p:txBody>
      </p:sp>
      <p:sp>
        <p:nvSpPr>
          <p:cNvPr id="25" name="Shape 23"/>
          <p:cNvSpPr/>
          <p:nvPr/>
        </p:nvSpPr>
        <p:spPr>
          <a:xfrm>
            <a:off x="777240" y="2779776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868680" y="2779776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Supervisor Synthesis: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Merges sub-answers + extracted metadata + cross-checked evidence summary</a:t>
            </a:r>
            <a:endParaRPr lang="en-US" sz="950" dirty="0"/>
          </a:p>
        </p:txBody>
      </p:sp>
      <p:sp>
        <p:nvSpPr>
          <p:cNvPr id="27" name="Shape 25"/>
          <p:cNvSpPr/>
          <p:nvPr/>
        </p:nvSpPr>
        <p:spPr>
          <a:xfrm>
            <a:off x="480060" y="3127248"/>
            <a:ext cx="18288" cy="219456"/>
          </a:xfrm>
          <a:prstGeom prst="rect">
            <a:avLst/>
          </a:prstGeom>
          <a:solidFill>
            <a:srgbClr val="D0D9E8"/>
          </a:solidFill>
          <a:ln w="12700">
            <a:solidFill>
              <a:srgbClr val="D0D9E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6"/>
          <p:cNvSpPr/>
          <p:nvPr/>
        </p:nvSpPr>
        <p:spPr>
          <a:xfrm>
            <a:off x="320040" y="3346704"/>
            <a:ext cx="347472" cy="347472"/>
          </a:xfrm>
          <a:prstGeom prst="ellipse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7"/>
          <p:cNvSpPr/>
          <p:nvPr/>
        </p:nvSpPr>
        <p:spPr>
          <a:xfrm>
            <a:off x="320040" y="3346704"/>
            <a:ext cx="347472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100" dirty="0"/>
          </a:p>
        </p:txBody>
      </p:sp>
      <p:sp>
        <p:nvSpPr>
          <p:cNvPr id="30" name="Shape 28"/>
          <p:cNvSpPr/>
          <p:nvPr/>
        </p:nvSpPr>
        <p:spPr>
          <a:xfrm>
            <a:off x="777240" y="3346704"/>
            <a:ext cx="4297680" cy="347472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868680" y="3346704"/>
            <a:ext cx="41148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b="1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Optimal top_k=15:  </a:t>
            </a: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context maximises faithfulness &amp; relevancy; top_k&gt;15 degrades both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5394960" y="768096"/>
            <a:ext cx="342900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5394960" y="768096"/>
            <a:ext cx="64008" cy="201168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5532120" y="82296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E7E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✓ Strengths</a:t>
            </a:r>
            <a:endParaRPr lang="en-US" sz="1000" dirty="0"/>
          </a:p>
        </p:txBody>
      </p:sp>
      <p:sp>
        <p:nvSpPr>
          <p:cNvPr id="35" name="Text 33"/>
          <p:cNvSpPr/>
          <p:nvPr/>
        </p:nvSpPr>
        <p:spPr>
          <a:xfrm>
            <a:off x="5532120" y="1115568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Highest mean RAGAS score (0.754)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5532120" y="13716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Best faithfulness (0.805) + relevancy (0.826)</a:t>
            </a:r>
            <a:endParaRPr lang="en-US" sz="950" dirty="0"/>
          </a:p>
        </p:txBody>
      </p:sp>
      <p:sp>
        <p:nvSpPr>
          <p:cNvPr id="37" name="Text 35"/>
          <p:cNvSpPr/>
          <p:nvPr/>
        </p:nvSpPr>
        <p:spPr>
          <a:xfrm>
            <a:off x="5532120" y="162763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Combines best of hybrid retrieval &amp; sub-agent focus</a:t>
            </a:r>
            <a:endParaRPr lang="en-US" sz="950" dirty="0"/>
          </a:p>
        </p:txBody>
      </p:sp>
      <p:sp>
        <p:nvSpPr>
          <p:cNvPr id="38" name="Shape 36"/>
          <p:cNvSpPr/>
          <p:nvPr/>
        </p:nvSpPr>
        <p:spPr>
          <a:xfrm>
            <a:off x="5394960" y="2916936"/>
            <a:ext cx="3429000" cy="146304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9" name="Shape 37"/>
          <p:cNvSpPr/>
          <p:nvPr/>
        </p:nvSpPr>
        <p:spPr>
          <a:xfrm>
            <a:off x="5394960" y="2916936"/>
            <a:ext cx="64008" cy="1463040"/>
          </a:xfrm>
          <a:prstGeom prst="rect">
            <a:avLst/>
          </a:prstGeom>
          <a:solidFill>
            <a:srgbClr val="A63228"/>
          </a:solidFill>
          <a:ln w="12700">
            <a:solidFill>
              <a:srgbClr val="A6322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5532120" y="297180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A6322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✗ Limitations</a:t>
            </a:r>
            <a:endParaRPr lang="en-US" sz="1000" dirty="0"/>
          </a:p>
        </p:txBody>
      </p:sp>
      <p:sp>
        <p:nvSpPr>
          <p:cNvPr id="41" name="Text 39"/>
          <p:cNvSpPr/>
          <p:nvPr/>
        </p:nvSpPr>
        <p:spPr>
          <a:xfrm>
            <a:off x="5532120" y="3246120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Higher latency (most LLM calls)</a:t>
            </a:r>
            <a:endParaRPr lang="en-US" sz="950" dirty="0"/>
          </a:p>
        </p:txBody>
      </p:sp>
      <p:sp>
        <p:nvSpPr>
          <p:cNvPr id="42" name="Text 40"/>
          <p:cNvSpPr/>
          <p:nvPr/>
        </p:nvSpPr>
        <p:spPr>
          <a:xfrm>
            <a:off x="5532120" y="3502152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Correctness still bounded by base LLM</a:t>
            </a:r>
            <a:endParaRPr lang="en-US" sz="950" dirty="0"/>
          </a:p>
        </p:txBody>
      </p:sp>
      <p:sp>
        <p:nvSpPr>
          <p:cNvPr id="43" name="Text 41"/>
          <p:cNvSpPr/>
          <p:nvPr/>
        </p:nvSpPr>
        <p:spPr>
          <a:xfrm>
            <a:off x="5532120" y="3758184"/>
            <a:ext cx="31546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0D1B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• Degradation if top_k exceeds 15 docs/sub-agent</a:t>
            </a:r>
            <a:endParaRPr lang="en-US" sz="950" dirty="0"/>
          </a:p>
        </p:txBody>
      </p:sp>
      <p:sp>
        <p:nvSpPr>
          <p:cNvPr id="44" name="Shape 42"/>
          <p:cNvSpPr/>
          <p:nvPr/>
        </p:nvSpPr>
        <p:spPr>
          <a:xfrm>
            <a:off x="0" y="4572000"/>
            <a:ext cx="9144000" cy="57150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5" name="Text 43"/>
          <p:cNvSpPr/>
          <p:nvPr/>
        </p:nvSpPr>
        <p:spPr>
          <a:xfrm>
            <a:off x="274320" y="4572000"/>
            <a:ext cx="1097280" cy="5715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kern="0" spc="100" dirty="0">
                <a:solidFill>
                  <a:srgbClr val="C995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RAGAS SCORES</a:t>
            </a:r>
            <a:endParaRPr lang="en-US" sz="800" dirty="0"/>
          </a:p>
        </p:txBody>
      </p:sp>
      <p:sp>
        <p:nvSpPr>
          <p:cNvPr id="46" name="Text 44"/>
          <p:cNvSpPr/>
          <p:nvPr/>
        </p:nvSpPr>
        <p:spPr>
          <a:xfrm>
            <a:off x="155448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Prec</a:t>
            </a:r>
            <a:endParaRPr lang="en-US" sz="800" dirty="0"/>
          </a:p>
        </p:txBody>
      </p:sp>
      <p:sp>
        <p:nvSpPr>
          <p:cNvPr id="47" name="Text 45"/>
          <p:cNvSpPr/>
          <p:nvPr/>
        </p:nvSpPr>
        <p:spPr>
          <a:xfrm>
            <a:off x="155448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0.800</a:t>
            </a:r>
            <a:endParaRPr lang="en-US" sz="1300" dirty="0"/>
          </a:p>
        </p:txBody>
      </p:sp>
      <p:sp>
        <p:nvSpPr>
          <p:cNvPr id="48" name="Text 46"/>
          <p:cNvSpPr/>
          <p:nvPr/>
        </p:nvSpPr>
        <p:spPr>
          <a:xfrm>
            <a:off x="2816352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Recall</a:t>
            </a:r>
            <a:endParaRPr lang="en-US" sz="800" dirty="0"/>
          </a:p>
        </p:txBody>
      </p:sp>
      <p:sp>
        <p:nvSpPr>
          <p:cNvPr id="49" name="Text 47"/>
          <p:cNvSpPr/>
          <p:nvPr/>
        </p:nvSpPr>
        <p:spPr>
          <a:xfrm>
            <a:off x="2816352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0.733</a:t>
            </a:r>
            <a:endParaRPr lang="en-US" sz="1300" dirty="0"/>
          </a:p>
        </p:txBody>
      </p:sp>
      <p:sp>
        <p:nvSpPr>
          <p:cNvPr id="50" name="Text 48"/>
          <p:cNvSpPr/>
          <p:nvPr/>
        </p:nvSpPr>
        <p:spPr>
          <a:xfrm>
            <a:off x="4078224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Faith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078224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0.753</a:t>
            </a:r>
            <a:endParaRPr lang="en-US" sz="1300" dirty="0"/>
          </a:p>
        </p:txBody>
      </p:sp>
      <p:sp>
        <p:nvSpPr>
          <p:cNvPr id="52" name="Text 50"/>
          <p:cNvSpPr/>
          <p:nvPr/>
        </p:nvSpPr>
        <p:spPr>
          <a:xfrm>
            <a:off x="5340096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Relev</a:t>
            </a:r>
            <a:endParaRPr lang="en-US" sz="800" dirty="0"/>
          </a:p>
        </p:txBody>
      </p:sp>
      <p:sp>
        <p:nvSpPr>
          <p:cNvPr id="53" name="Text 51"/>
          <p:cNvSpPr/>
          <p:nvPr/>
        </p:nvSpPr>
        <p:spPr>
          <a:xfrm>
            <a:off x="5340096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0.826</a:t>
            </a:r>
            <a:endParaRPr lang="en-US" sz="1300" dirty="0"/>
          </a:p>
        </p:txBody>
      </p:sp>
      <p:sp>
        <p:nvSpPr>
          <p:cNvPr id="54" name="Text 52"/>
          <p:cNvSpPr/>
          <p:nvPr/>
        </p:nvSpPr>
        <p:spPr>
          <a:xfrm>
            <a:off x="6601968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</a:t>
            </a:r>
            <a:endParaRPr lang="en-US" sz="800" dirty="0"/>
          </a:p>
        </p:txBody>
      </p:sp>
      <p:sp>
        <p:nvSpPr>
          <p:cNvPr id="55" name="Text 53"/>
          <p:cNvSpPr/>
          <p:nvPr/>
        </p:nvSpPr>
        <p:spPr>
          <a:xfrm>
            <a:off x="6601968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0.659</a:t>
            </a:r>
            <a:endParaRPr lang="en-US" sz="1300" dirty="0"/>
          </a:p>
        </p:txBody>
      </p:sp>
      <p:sp>
        <p:nvSpPr>
          <p:cNvPr id="56" name="Text 54"/>
          <p:cNvSpPr/>
          <p:nvPr/>
        </p:nvSpPr>
        <p:spPr>
          <a:xfrm>
            <a:off x="7863840" y="457200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ctr">
              <a:buNone/>
            </a:pPr>
            <a:r>
              <a:rPr lang="en-US" sz="800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</a:t>
            </a:r>
            <a:endParaRPr lang="en-US" sz="800" dirty="0"/>
          </a:p>
        </p:txBody>
      </p:sp>
      <p:sp>
        <p:nvSpPr>
          <p:cNvPr id="57" name="Text 55"/>
          <p:cNvSpPr/>
          <p:nvPr/>
        </p:nvSpPr>
        <p:spPr>
          <a:xfrm>
            <a:off x="7863840" y="4846320"/>
            <a:ext cx="10972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algn="ctr">
              <a:buNone/>
            </a:pPr>
            <a:r>
              <a:rPr lang="en-US" sz="1300" b="1" dirty="0">
                <a:solidFill>
                  <a:srgbClr val="B0C8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0.754</a:t>
            </a:r>
            <a:endParaRPr lang="en-US" sz="13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kern="0" spc="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METRICS — RAGAS EVALUATION</a:t>
            </a:r>
            <a:endParaRPr lang="en-US" sz="1500" dirty="0"/>
          </a:p>
        </p:txBody>
      </p:sp>
      <p:graphicFrame>
        <p:nvGraphicFramePr>
          <p:cNvPr id="4" name="Chart 0"/>
          <p:cNvGraphicFramePr/>
          <p:nvPr/>
        </p:nvGraphicFramePr>
        <p:xfrm>
          <a:off x="274320" y="749808"/>
          <a:ext cx="5669280" cy="3520440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3"/>
          </a:graphicData>
        </a:graphic>
      </p:graphicFrame>
      <p:sp>
        <p:nvSpPr>
          <p:cNvPr id="5" name="Text 2"/>
          <p:cNvSpPr/>
          <p:nvPr/>
        </p:nvSpPr>
        <p:spPr>
          <a:xfrm>
            <a:off x="6172200" y="768096"/>
            <a:ext cx="27432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kern="0" spc="1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MEAN SCORE RANKING</a:t>
            </a:r>
            <a:endParaRPr lang="en-US" sz="1000" dirty="0"/>
          </a:p>
        </p:txBody>
      </p:sp>
      <p:sp>
        <p:nvSpPr>
          <p:cNvPr id="6" name="Shape 3"/>
          <p:cNvSpPr/>
          <p:nvPr/>
        </p:nvSpPr>
        <p:spPr>
          <a:xfrm>
            <a:off x="6126480" y="1097280"/>
            <a:ext cx="2880360" cy="512064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126480" y="1097280"/>
            <a:ext cx="2171791" cy="512064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6236208" y="1133856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#1  Hybrid Multi-Agent (15/10)</a:t>
            </a:r>
            <a:endParaRPr lang="en-US" sz="850" dirty="0"/>
          </a:p>
        </p:txBody>
      </p:sp>
      <p:sp>
        <p:nvSpPr>
          <p:cNvPr id="9" name="Text 6"/>
          <p:cNvSpPr/>
          <p:nvPr/>
        </p:nvSpPr>
        <p:spPr>
          <a:xfrm>
            <a:off x="6236208" y="1371600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0.754</a:t>
            </a:r>
            <a:endParaRPr lang="en-US" sz="1100" dirty="0"/>
          </a:p>
        </p:txBody>
      </p:sp>
      <p:sp>
        <p:nvSpPr>
          <p:cNvPr id="10" name="Shape 7"/>
          <p:cNvSpPr/>
          <p:nvPr/>
        </p:nvSpPr>
        <p:spPr>
          <a:xfrm>
            <a:off x="6126480" y="1719072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6126480" y="1719072"/>
            <a:ext cx="2163150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6236208" y="1755648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#2  Hybrid Multi-Agent (10/7)</a:t>
            </a:r>
            <a:endParaRPr lang="en-US" sz="850" dirty="0"/>
          </a:p>
        </p:txBody>
      </p:sp>
      <p:sp>
        <p:nvSpPr>
          <p:cNvPr id="13" name="Text 10"/>
          <p:cNvSpPr/>
          <p:nvPr/>
        </p:nvSpPr>
        <p:spPr>
          <a:xfrm>
            <a:off x="6236208" y="1993392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0.751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6126480" y="2340864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6126480" y="2340864"/>
            <a:ext cx="2160270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6236208" y="2377440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#3  Hybrid Multi-Agent (20/10)</a:t>
            </a:r>
            <a:endParaRPr lang="en-US" sz="850" dirty="0"/>
          </a:p>
        </p:txBody>
      </p:sp>
      <p:sp>
        <p:nvSpPr>
          <p:cNvPr id="17" name="Text 14"/>
          <p:cNvSpPr/>
          <p:nvPr/>
        </p:nvSpPr>
        <p:spPr>
          <a:xfrm>
            <a:off x="6236208" y="2615184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0.750</a:t>
            </a:r>
            <a:endParaRPr lang="en-US" sz="1100" dirty="0"/>
          </a:p>
        </p:txBody>
      </p:sp>
      <p:sp>
        <p:nvSpPr>
          <p:cNvPr id="18" name="Shape 15"/>
          <p:cNvSpPr/>
          <p:nvPr/>
        </p:nvSpPr>
        <p:spPr>
          <a:xfrm>
            <a:off x="6126480" y="2962656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9" name="Shape 16"/>
          <p:cNvSpPr/>
          <p:nvPr/>
        </p:nvSpPr>
        <p:spPr>
          <a:xfrm>
            <a:off x="6126480" y="2962656"/>
            <a:ext cx="2142988" cy="512064"/>
          </a:xfrm>
          <a:prstGeom prst="rect">
            <a:avLst/>
          </a:prstGeom>
          <a:solidFill>
            <a:srgbClr val="C47B1A">
              <a:alpha val="25000"/>
            </a:srgbClr>
          </a:solidFill>
          <a:ln w="12700">
            <a:solidFill>
              <a:srgbClr val="C47B1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7"/>
          <p:cNvSpPr/>
          <p:nvPr/>
        </p:nvSpPr>
        <p:spPr>
          <a:xfrm>
            <a:off x="6236208" y="2999232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#4  Hybrid Multi-Agent (30/10)</a:t>
            </a:r>
            <a:endParaRPr lang="en-US" sz="850" dirty="0"/>
          </a:p>
        </p:txBody>
      </p:sp>
      <p:sp>
        <p:nvSpPr>
          <p:cNvPr id="21" name="Text 18"/>
          <p:cNvSpPr/>
          <p:nvPr/>
        </p:nvSpPr>
        <p:spPr>
          <a:xfrm>
            <a:off x="6236208" y="3236976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0.744</a:t>
            </a:r>
            <a:endParaRPr lang="en-US" sz="1100" dirty="0"/>
          </a:p>
        </p:txBody>
      </p:sp>
      <p:sp>
        <p:nvSpPr>
          <p:cNvPr id="22" name="Shape 19"/>
          <p:cNvSpPr/>
          <p:nvPr/>
        </p:nvSpPr>
        <p:spPr>
          <a:xfrm>
            <a:off x="6126480" y="3584448"/>
            <a:ext cx="2880360" cy="51206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9E8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20"/>
          <p:cNvSpPr/>
          <p:nvPr/>
        </p:nvSpPr>
        <p:spPr>
          <a:xfrm>
            <a:off x="6126480" y="3584448"/>
            <a:ext cx="2108424" cy="512064"/>
          </a:xfrm>
          <a:prstGeom prst="rect">
            <a:avLst/>
          </a:prstGeom>
          <a:solidFill>
            <a:srgbClr val="2E4A7A">
              <a:alpha val="25000"/>
            </a:srgbClr>
          </a:solidFill>
          <a:ln w="12700">
            <a:solidFill>
              <a:srgbClr val="2E4A7A">
                <a:alpha val="2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Text 21"/>
          <p:cNvSpPr/>
          <p:nvPr/>
        </p:nvSpPr>
        <p:spPr>
          <a:xfrm>
            <a:off x="6236208" y="3621024"/>
            <a:ext cx="237744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5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#5  Single Agent (30/10)</a:t>
            </a:r>
            <a:endParaRPr lang="en-US" sz="850" dirty="0"/>
          </a:p>
        </p:txBody>
      </p:sp>
      <p:sp>
        <p:nvSpPr>
          <p:cNvPr id="25" name="Text 22"/>
          <p:cNvSpPr/>
          <p:nvPr/>
        </p:nvSpPr>
        <p:spPr>
          <a:xfrm>
            <a:off x="6236208" y="385876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0.732</a:t>
            </a:r>
            <a:endParaRPr lang="en-US" sz="1100" dirty="0"/>
          </a:p>
        </p:txBody>
      </p:sp>
      <p:sp>
        <p:nvSpPr>
          <p:cNvPr id="26" name="Text 23"/>
          <p:cNvSpPr/>
          <p:nvPr/>
        </p:nvSpPr>
        <p:spPr>
          <a:xfrm>
            <a:off x="320040" y="43891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i="1" dirty="0">
                <a:solidFill>
                  <a:srgbClr val="8896A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★ Target threshold: 0.80 (per-metric)</a:t>
            </a:r>
            <a:endParaRPr lang="en-US" sz="900" dirty="0"/>
          </a:p>
        </p:txBody>
      </p:sp>
      <p:sp>
        <p:nvSpPr>
          <p:cNvPr id="27" name="Shape 24"/>
          <p:cNvSpPr/>
          <p:nvPr/>
        </p:nvSpPr>
        <p:spPr>
          <a:xfrm>
            <a:off x="0" y="4846320"/>
            <a:ext cx="9144000" cy="297180"/>
          </a:xfrm>
          <a:prstGeom prst="rect">
            <a:avLst/>
          </a:prstGeom>
          <a:solidFill>
            <a:srgbClr val="1A2744"/>
          </a:solidFill>
          <a:ln w="12700">
            <a:solidFill>
              <a:srgbClr val="1A27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5"/>
          <p:cNvSpPr/>
          <p:nvPr/>
        </p:nvSpPr>
        <p:spPr>
          <a:xfrm>
            <a:off x="365760" y="4846320"/>
            <a:ext cx="8412480" cy="2971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Multi-Agent (top_k=15, final=10) achieves the highest mean RAGAS score of 0.754 — the optimal configuration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1A274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658368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65760" y="0"/>
            <a:ext cx="8412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200" dirty="0">
                <a:solidFill>
                  <a:srgbClr val="1A274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DESIGN PRINCIPLES &amp; CONCLUSIONS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274320" y="804672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1A7B8C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274320" y="804672"/>
            <a:ext cx="64008" cy="1737360"/>
          </a:xfrm>
          <a:prstGeom prst="rect">
            <a:avLst/>
          </a:prstGeom>
          <a:solidFill>
            <a:srgbClr val="1A7B8C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438912" y="896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A7B8C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01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438912" y="1225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Context Window is the #1 Hyperparameter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438912" y="15727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Compact sub-agent context (10–15 docs) consistently outperforms large context (30 docs). Faithfulness delta of +0.152 between top_k=7 vs top_k=10. Use smallest top_k that achieves adequate recall.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4800600" y="804672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C9952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8"/>
          <p:cNvSpPr/>
          <p:nvPr/>
        </p:nvSpPr>
        <p:spPr>
          <a:xfrm>
            <a:off x="4800600" y="804672"/>
            <a:ext cx="64008" cy="1737360"/>
          </a:xfrm>
          <a:prstGeom prst="rect">
            <a:avLst/>
          </a:prstGeom>
          <a:solidFill>
            <a:srgbClr val="C9952A"/>
          </a:solidFill>
          <a:ln w="12700">
            <a:solidFill>
              <a:srgbClr val="C9952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965192" y="896112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9952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02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4965192" y="1225296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Perfect Retrieval ≠ Perfect Generation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965192" y="1572768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Hybrid RAG achieves precision=1.000 yet lowest relevancy (0.486). A single LLM receiving 30 perfect docs still fails to synthesize a focused answer — generation architecture matters as much as retrieval.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274320" y="2743200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C47B1A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3"/>
          <p:cNvSpPr/>
          <p:nvPr/>
        </p:nvSpPr>
        <p:spPr>
          <a:xfrm>
            <a:off x="274320" y="2743200"/>
            <a:ext cx="64008" cy="1737360"/>
          </a:xfrm>
          <a:prstGeom prst="rect">
            <a:avLst/>
          </a:prstGeom>
          <a:solidFill>
            <a:srgbClr val="C47B1A"/>
          </a:solidFill>
          <a:ln w="12700">
            <a:solidFill>
              <a:srgbClr val="C47B1A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Text 14"/>
          <p:cNvSpPr/>
          <p:nvPr/>
        </p:nvSpPr>
        <p:spPr>
          <a:xfrm>
            <a:off x="438912" y="2834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C47B1A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03</a:t>
            </a:r>
            <a:endParaRPr lang="en-US" sz="1600" dirty="0"/>
          </a:p>
        </p:txBody>
      </p:sp>
      <p:sp>
        <p:nvSpPr>
          <p:cNvPr id="17" name="Text 15"/>
          <p:cNvSpPr/>
          <p:nvPr/>
        </p:nvSpPr>
        <p:spPr>
          <a:xfrm>
            <a:off x="438912" y="31638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is Bounded by the Base LLM</a:t>
            </a:r>
            <a:endParaRPr lang="en-US" sz="1100" dirty="0"/>
          </a:p>
        </p:txBody>
      </p:sp>
      <p:sp>
        <p:nvSpPr>
          <p:cNvPr id="18" name="Text 16"/>
          <p:cNvSpPr/>
          <p:nvPr/>
        </p:nvSpPr>
        <p:spPr>
          <a:xfrm>
            <a:off x="438912" y="351129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Correctness range across all architectures is only 0.087 pts. Simpler pipeline (Single Agent) scores highest because no synthesis steps drop details. Pipeline changes alone cannot push this metric further.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800600" y="2743200"/>
            <a:ext cx="4206240" cy="1737360"/>
          </a:xfrm>
          <a:prstGeom prst="rect">
            <a:avLst/>
          </a:prstGeom>
          <a:solidFill>
            <a:srgbClr val="1E3460"/>
          </a:solidFill>
          <a:ln w="12700">
            <a:solidFill>
              <a:srgbClr val="1E7E5E"/>
            </a:solidFill>
            <a:prstDash val="solid"/>
          </a:ln>
          <a:effectLst>
            <a:outerShdw blurRad="101600" dist="38100" dir="8100000" algn="bl" rotWithShape="0">
              <a:srgbClr val="000000">
                <a:alpha val="18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4800600" y="2743200"/>
            <a:ext cx="64008" cy="1737360"/>
          </a:xfrm>
          <a:prstGeom prst="rect">
            <a:avLst/>
          </a:prstGeom>
          <a:solidFill>
            <a:srgbClr val="1E7E5E"/>
          </a:solidFill>
          <a:ln w="12700">
            <a:solidFill>
              <a:srgbClr val="1E7E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4965192" y="2834640"/>
            <a:ext cx="5029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E7E5E"/>
                </a:solidFill>
                <a:latin typeface="Georgia" pitchFamily="34" charset="0"/>
                <a:ea typeface="Georgia" pitchFamily="34" charset="-122"/>
                <a:cs typeface="Georgia" pitchFamily="34" charset="-120"/>
              </a:rPr>
              <a:t>04</a:t>
            </a:r>
            <a:endParaRPr lang="en-US" sz="1600" dirty="0"/>
          </a:p>
        </p:txBody>
      </p:sp>
      <p:sp>
        <p:nvSpPr>
          <p:cNvPr id="22" name="Text 20"/>
          <p:cNvSpPr/>
          <p:nvPr/>
        </p:nvSpPr>
        <p:spPr>
          <a:xfrm>
            <a:off x="4965192" y="3163824"/>
            <a:ext cx="3840480" cy="3291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BM25+RRF is Critical for Legal Text</a:t>
            </a:r>
            <a:endParaRPr lang="en-US" sz="1100" dirty="0"/>
          </a:p>
        </p:txBody>
      </p:sp>
      <p:sp>
        <p:nvSpPr>
          <p:cNvPr id="23" name="Text 21"/>
          <p:cNvSpPr/>
          <p:nvPr/>
        </p:nvSpPr>
        <p:spPr>
          <a:xfrm>
            <a:off x="4965192" y="3511296"/>
            <a:ext cx="384048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D0D9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Exact lexical matches on article numbers, statute IDs, and Latin phrases carry high discriminative value that dense embeddings underweight. Hybrid retrieval meaningfully improves precision.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274320" y="4617720"/>
            <a:ext cx="8595360" cy="347472"/>
          </a:xfrm>
          <a:prstGeom prst="rect">
            <a:avLst/>
          </a:prstGeom>
          <a:solidFill>
            <a:srgbClr val="2E4A7A"/>
          </a:solidFill>
          <a:ln w="12700">
            <a:solidFill>
              <a:srgbClr val="1A7B8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411480" y="4617720"/>
            <a:ext cx="83210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E8B84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▶  Next Step: Rebuild FAISS indexes using BAAI/bge-base-en-v1.5 (768-dim) to improve semantic capture across jurisdictions</a:t>
            </a:r>
            <a:endParaRPr lang="en-US" sz="9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1165</Words>
  <Application>Microsoft Office PowerPoint</Application>
  <PresentationFormat>On-screen Show (16:9)</PresentationFormat>
  <Paragraphs>209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2" baseType="lpstr">
      <vt:lpstr>Arial</vt:lpstr>
      <vt:lpstr>Calibri</vt:lpstr>
      <vt:lpstr>Georgia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Agentic Legal RAG System</dc:title>
  <dc:subject>PptxGenJS Presentation</dc:subject>
  <dc:creator>PptxGenJS</dc:creator>
  <cp:lastModifiedBy>ROHAN BAIDYA</cp:lastModifiedBy>
  <cp:revision>2</cp:revision>
  <dcterms:created xsi:type="dcterms:W3CDTF">2026-02-24T00:51:10Z</dcterms:created>
  <dcterms:modified xsi:type="dcterms:W3CDTF">2026-02-24T00:57:14Z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MSIP_Label_2ad0b24d-6422-44b0-b3de-abb3a9e8c81a_Enabled">
    <vt:lpwstr>true</vt:lpwstr>
  </property>
  <property fmtid="{D5CDD505-2E9C-101B-9397-08002B2CF9AE}" pid="3" name="MSIP_Label_2ad0b24d-6422-44b0-b3de-abb3a9e8c81a_SetDate">
    <vt:lpwstr>2026-02-24T00:57:11Z</vt:lpwstr>
  </property>
  <property fmtid="{D5CDD505-2E9C-101B-9397-08002B2CF9AE}" pid="4" name="MSIP_Label_2ad0b24d-6422-44b0-b3de-abb3a9e8c81a_Method">
    <vt:lpwstr>Standard</vt:lpwstr>
  </property>
  <property fmtid="{D5CDD505-2E9C-101B-9397-08002B2CF9AE}" pid="5" name="MSIP_Label_2ad0b24d-6422-44b0-b3de-abb3a9e8c81a_Name">
    <vt:lpwstr>defa4170-0d19-0005-0004-bc88714345d2</vt:lpwstr>
  </property>
  <property fmtid="{D5CDD505-2E9C-101B-9397-08002B2CF9AE}" pid="6" name="MSIP_Label_2ad0b24d-6422-44b0-b3de-abb3a9e8c81a_SiteId">
    <vt:lpwstr>2fcfe26a-bb62-46b0-b1e3-28f9da0c45fd</vt:lpwstr>
  </property>
  <property fmtid="{D5CDD505-2E9C-101B-9397-08002B2CF9AE}" pid="7" name="MSIP_Label_2ad0b24d-6422-44b0-b3de-abb3a9e8c81a_ActionId">
    <vt:lpwstr>b0a9e8b4-974f-467d-92c6-bb84b1b5fc98</vt:lpwstr>
  </property>
  <property fmtid="{D5CDD505-2E9C-101B-9397-08002B2CF9AE}" pid="8" name="MSIP_Label_2ad0b24d-6422-44b0-b3de-abb3a9e8c81a_ContentBits">
    <vt:lpwstr>0</vt:lpwstr>
  </property>
  <property fmtid="{D5CDD505-2E9C-101B-9397-08002B2CF9AE}" pid="9" name="MSIP_Label_2ad0b24d-6422-44b0-b3de-abb3a9e8c81a_Tag">
    <vt:lpwstr>10, 3, 0, 1</vt:lpwstr>
  </property>
</Properties>
</file>