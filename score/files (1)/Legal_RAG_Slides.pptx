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B4D80">
              <a:alpha val="70000"/>
            </a:srgbClr>
          </a:solidFill>
          <a:ln w="12700">
            <a:solidFill>
              <a:srgbClr val="1B4D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2563EB">
              <a:alpha val="6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System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Retrieval Strategies &amp; Evaluation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200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Project — Academic Evaluation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E40A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E40A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E40A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420624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1E40AF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BM25+RRF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for civil law Q&amp;A across Italy, Estonia &amp; Slovenia — Inheritance and Divorce domains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accepts natural language queries about legal proceedings, retrieves the most relevant statutory and case documents from FAISS vector stores, and synthesises a grounded answer via GPT-4o-mini. All four architectures share the same underlying corpus and infrastructure — differing only in how retrieval and synthesis are orchestrated.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2651760" cy="3063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83080"/>
            <a:ext cx="265176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codes: civil code articles,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provisions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Court decisions: judgments,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records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FAISS indexes across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Divorce domains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651760" cy="3063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783080"/>
            <a:ext cx="265176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26771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held-out Q&amp;A pairs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legal domain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Scored with RAGAS: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retrieval + generation metrics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395020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threshold: 0.80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metrics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783080"/>
            <a:ext cx="2651760" cy="3063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783080"/>
            <a:ext cx="2651760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783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26771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all-MiniLM-L6-v2 embeddings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(384-dim, swappable to 768)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GPT-4o-mini via OpenRouter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max_tokens=768, temp=0.2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395020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Optional: BM25+RRF fusion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cross-encoder reranking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FOUR AGENT ARCHITECTURES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share the same FAISS corpus and LLM backend — differences lie purely in retrieval orchestration and synthesis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4059936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32688"/>
            <a:ext cx="109728" cy="19202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241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08176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369A1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08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 → FAISS retrieval (top_k=30) → cosine rerank → single LLM call with full context. No routing, no fallback.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32688"/>
            <a:ext cx="4059936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32688"/>
            <a:ext cx="109728" cy="1920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02412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10328" y="1408176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0D9488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10328" y="14081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Sub-agents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0328" y="1737360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 classifies query type → LLM DB routing → one sub-agent per DB with isolated context → supervisor synthesises partial answers.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" y="2999232"/>
            <a:ext cx="4059936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99232"/>
            <a:ext cx="109728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906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7C3AED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Retrieval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metadata extraction (LEGAL_METADATA_SCHEMA) → two-phase FAISS → BM25+RRF fusion → cross-encoder threshold filter → single LLM call.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999232"/>
            <a:ext cx="4059936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99232"/>
            <a:ext cx="109728" cy="1920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30906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Multi-Agent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10328" y="3474720"/>
            <a:ext cx="1645920" cy="256032"/>
          </a:xfrm>
          <a:prstGeom prst="roundRect">
            <a:avLst>
              <a:gd name="adj" fmla="val 28571"/>
            </a:avLst>
          </a:prstGeom>
          <a:solidFill>
            <a:srgbClr val="B45309">
              <a:alpha val="9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910328" y="34747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Overall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0328" y="3803904"/>
            <a:ext cx="3785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hybrid retrieval pipeline, but retrieved docs partitioned by source DB → sub-agents per partition → supervisor synthesis with metadata string.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RAGAS EVALUATION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metrics spanning retrieval quality and generation quality — all scored on [0, 1]. Target threshold: 0.80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32688"/>
            <a:ext cx="91440" cy="7498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87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retrieved documents that are genuinely relevant to the query. A score of 1.000 means every retrieved chunk was useful — no noise fed to the LLM.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755648"/>
            <a:ext cx="914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all relevant documents in the corpus that were successfully retrieved. Low recall means useful evidence was missed before generation even begins.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850392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2578608"/>
            <a:ext cx="9144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33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claims in the generated answer that are directly grounded in the retrieved context — i.e. not hallucinated. The primary measure of factual reliability.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401568"/>
            <a:ext cx="91440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56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alignment between the generated answer and the original question. A low score means the answer is factually grounded but fails to directly address what was asked.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8503920" cy="74980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4224528"/>
            <a:ext cx="91440" cy="74980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79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Correctness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overlap between the generated answer and the ground-truth reference answer. Captures whether the model produces the right facts, not just relevant ones.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SCORE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594360"/>
            <a:ext cx="320040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594360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594360"/>
            <a:ext cx="868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594360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594360"/>
            <a:ext cx="868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594360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594360"/>
            <a:ext cx="868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594360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594360"/>
            <a:ext cx="868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594360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594360"/>
            <a:ext cx="868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594360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594360"/>
            <a:ext cx="8686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594360"/>
            <a:ext cx="868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978408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978408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(30/10)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978408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97840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978408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97840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978408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97840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978408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97840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978408"/>
            <a:ext cx="86868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97840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26680" y="978408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7726680" y="97840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" y="1499616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" y="1499616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Agent (10/7)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1499616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149961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51960" y="1499616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149961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0640" y="1499616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149961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1499616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149961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58000" y="1499616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149961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26680" y="1499616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7726680" y="149961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" y="2020824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182880" y="2020824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Agent (30/10)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383280" y="2020824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3383280" y="2020824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51960" y="2020824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4251960" y="2020824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20640" y="2020824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5120640" y="2020824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989320" y="2020824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Text 53"/>
          <p:cNvSpPr/>
          <p:nvPr/>
        </p:nvSpPr>
        <p:spPr>
          <a:xfrm>
            <a:off x="5989320" y="2020824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58000" y="2020824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0" y="2020824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726680" y="2020824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9" name="Text 57"/>
          <p:cNvSpPr/>
          <p:nvPr/>
        </p:nvSpPr>
        <p:spPr>
          <a:xfrm>
            <a:off x="7726680" y="2020824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880" y="2542032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82880" y="2542032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(30/10)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383280" y="2542032"/>
            <a:ext cx="86868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3" name="Text 61"/>
          <p:cNvSpPr/>
          <p:nvPr/>
        </p:nvSpPr>
        <p:spPr>
          <a:xfrm>
            <a:off x="3383280" y="2542032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251960" y="2542032"/>
            <a:ext cx="86868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5" name="Text 63"/>
          <p:cNvSpPr/>
          <p:nvPr/>
        </p:nvSpPr>
        <p:spPr>
          <a:xfrm>
            <a:off x="4251960" y="2542032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120640" y="2542032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5120640" y="2542032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989320" y="2542032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989320" y="2542032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858000" y="2542032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858000" y="2542032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726680" y="2542032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7726680" y="2542032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82880" y="3063240"/>
            <a:ext cx="320040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5" name="Text 73"/>
          <p:cNvSpPr/>
          <p:nvPr/>
        </p:nvSpPr>
        <p:spPr>
          <a:xfrm>
            <a:off x="182880" y="306324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HM (15/10)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383280" y="3063240"/>
            <a:ext cx="8686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7" name="Text 75"/>
          <p:cNvSpPr/>
          <p:nvPr/>
        </p:nvSpPr>
        <p:spPr>
          <a:xfrm>
            <a:off x="3383280" y="3063240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251960" y="3063240"/>
            <a:ext cx="8686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9" name="Text 77"/>
          <p:cNvSpPr/>
          <p:nvPr/>
        </p:nvSpPr>
        <p:spPr>
          <a:xfrm>
            <a:off x="4251960" y="3063240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120640" y="3063240"/>
            <a:ext cx="86868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1" name="Text 79"/>
          <p:cNvSpPr/>
          <p:nvPr/>
        </p:nvSpPr>
        <p:spPr>
          <a:xfrm>
            <a:off x="5120640" y="3063240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5989320" y="3063240"/>
            <a:ext cx="86868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3" name="Text 81"/>
          <p:cNvSpPr/>
          <p:nvPr/>
        </p:nvSpPr>
        <p:spPr>
          <a:xfrm>
            <a:off x="5989320" y="3063240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858000" y="3063240"/>
            <a:ext cx="86868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5" name="Text 83"/>
          <p:cNvSpPr/>
          <p:nvPr/>
        </p:nvSpPr>
        <p:spPr>
          <a:xfrm>
            <a:off x="6858000" y="3063240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726680" y="3063240"/>
            <a:ext cx="86868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7" name="Text 85"/>
          <p:cNvSpPr/>
          <p:nvPr/>
        </p:nvSpPr>
        <p:spPr>
          <a:xfrm>
            <a:off x="7726680" y="3063240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182880" y="3584448"/>
            <a:ext cx="3200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182880" y="3584448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(20/10)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3383280" y="3584448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3383280" y="358444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251960" y="3584448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ext 91"/>
          <p:cNvSpPr/>
          <p:nvPr/>
        </p:nvSpPr>
        <p:spPr>
          <a:xfrm>
            <a:off x="4251960" y="358444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5120640" y="3584448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Text 93"/>
          <p:cNvSpPr/>
          <p:nvPr/>
        </p:nvSpPr>
        <p:spPr>
          <a:xfrm>
            <a:off x="5120640" y="358444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5989320" y="3584448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5"/>
          <p:cNvSpPr/>
          <p:nvPr/>
        </p:nvSpPr>
        <p:spPr>
          <a:xfrm>
            <a:off x="5989320" y="358444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6858000" y="3584448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Text 97"/>
          <p:cNvSpPr/>
          <p:nvPr/>
        </p:nvSpPr>
        <p:spPr>
          <a:xfrm>
            <a:off x="6858000" y="358444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0.619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7726680" y="3584448"/>
            <a:ext cx="8686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7726680" y="3584448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182880" y="4105656"/>
            <a:ext cx="3200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3" name="Text 101"/>
          <p:cNvSpPr/>
          <p:nvPr/>
        </p:nvSpPr>
        <p:spPr>
          <a:xfrm>
            <a:off x="182880" y="4105656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 (30/10)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3383280" y="4105656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5" name="Text 103"/>
          <p:cNvSpPr/>
          <p:nvPr/>
        </p:nvSpPr>
        <p:spPr>
          <a:xfrm>
            <a:off x="3383280" y="410565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4251960" y="4105656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7" name="Text 105"/>
          <p:cNvSpPr/>
          <p:nvPr/>
        </p:nvSpPr>
        <p:spPr>
          <a:xfrm>
            <a:off x="4251960" y="410565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5120640" y="4105656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9" name="Text 107"/>
          <p:cNvSpPr/>
          <p:nvPr/>
        </p:nvSpPr>
        <p:spPr>
          <a:xfrm>
            <a:off x="5120640" y="410565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0.802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5989320" y="4105656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1" name="Text 109"/>
          <p:cNvSpPr/>
          <p:nvPr/>
        </p:nvSpPr>
        <p:spPr>
          <a:xfrm>
            <a:off x="5989320" y="410565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6858000" y="4105656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3" name="Text 111"/>
          <p:cNvSpPr/>
          <p:nvPr/>
        </p:nvSpPr>
        <p:spPr>
          <a:xfrm>
            <a:off x="6858000" y="410565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0.639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7726680" y="4105656"/>
            <a:ext cx="86868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5" name="Text 113"/>
          <p:cNvSpPr/>
          <p:nvPr/>
        </p:nvSpPr>
        <p:spPr>
          <a:xfrm>
            <a:off x="7726680" y="4105656"/>
            <a:ext cx="8686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configuration  |  Blue = best per column  |  HM = Hybrid Multi-Agent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 FINDINGS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13533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658368" cy="135331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21792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71323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Size is the Dominant Hyperparameter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7680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top_k from 30 → 10 per sub-agent raises faithfulness by +0.152 pts — the largest single effect in the study. Smaller context = fewer irrelevant documents = fewer hallucinated claims. Optimal top_k is the minimum that achieves adequate recall, not the maximum feasible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8595360" cy="13533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84832"/>
            <a:ext cx="658368" cy="13533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084832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Retrieval Does Not Guarantee Answer Quality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542032"/>
            <a:ext cx="7680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(30/10) achieves precision 1.000 yet scores the lowest answer relevancy (0.486). The generation step cannot synthesise a focused answer from 30 heterogeneous legal documents in one pass. Distributing the same pool across sub-agents (Hybrid Multi-Agent) recovers relevancy to 0.826 — without changing a single retrieval step.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135331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47872"/>
            <a:ext cx="658368" cy="1353312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547872"/>
            <a:ext cx="65836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63931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Correctness is Model-Bounded, Not Pipeline-Bounded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05072"/>
            <a:ext cx="7680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ranges only 0.608–0.695 across all 7 configs, with the simplest architecture (Single Agent) on top. Each additional synthesis layer risks dropping specific factual details. Meaningful correctness gains require a larger or more legally specialised LLM — not a better retrieval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B4D80">
              <a:alpha val="60000"/>
            </a:srgbClr>
          </a:solidFill>
          <a:ln w="12700">
            <a:solidFill>
              <a:srgbClr val="1B4D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Multi-Agent (15/10) — Best Configuration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0.784. Only architecture to exceed 0.80 simultaneously on faithfulness (0.812), answer relevancy (0.826), and context recall (0.800). Hybrid retrieval ensures evidence quality; sub-agent partitioning ensures generation focus.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2004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Compact sub-agent context (10–15 docs) outperforms large context (30 docs) on faithfulness and relevancy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5234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BM25+RRF fusion adds critical exact-match recall for legal citations, article numbers, and Latin phrases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6440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Cross-encoder logit filtering removes low-confidence docs before generation — a lightweight but effective quality gate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7647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LLM metadata extraction (LEGAL_METADATA_SCHEMA) provides more robust DB routing than surface keyword heuristics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53712"/>
            <a:ext cx="7863840" cy="384048"/>
          </a:xfrm>
          <a:prstGeom prst="roundRect">
            <a:avLst>
              <a:gd name="adj" fmla="val 23810"/>
            </a:avLst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55371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Rebuild vector stores with BAAI/bge-base-en-v1.5 (768-dim) to improve semantic coverage and close the answer correctness gap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RAG System</dc:title>
  <dc:subject>PptxGenJS Presentation</dc:subject>
  <dc:creator>Text Mining Project</dc:creator>
  <cp:lastModifiedBy>Text Mining Project</cp:lastModifiedBy>
  <cp:revision>1</cp:revision>
  <dcterms:created xsi:type="dcterms:W3CDTF">2026-02-23T22:57:36Z</dcterms:created>
  <dcterms:modified xsi:type="dcterms:W3CDTF">2026-02-23T22:57:36Z</dcterms:modified>
</cp:coreProperties>
</file>